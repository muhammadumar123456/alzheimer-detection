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77" r:id="rId7"/>
    <p:sldId id="278" r:id="rId8"/>
    <p:sldId id="261" r:id="rId9"/>
    <p:sldId id="262" r:id="rId10"/>
    <p:sldId id="279" r:id="rId11"/>
    <p:sldId id="280" r:id="rId12"/>
    <p:sldId id="281" r:id="rId13"/>
    <p:sldId id="263" r:id="rId14"/>
    <p:sldId id="264" r:id="rId15"/>
    <p:sldId id="282" r:id="rId16"/>
    <p:sldId id="265" r:id="rId17"/>
    <p:sldId id="266" r:id="rId18"/>
    <p:sldId id="283" r:id="rId19"/>
    <p:sldId id="284" r:id="rId20"/>
    <p:sldId id="267" r:id="rId21"/>
    <p:sldId id="268" r:id="rId22"/>
    <p:sldId id="285" r:id="rId23"/>
    <p:sldId id="274" r:id="rId24"/>
    <p:sldId id="269" r:id="rId25"/>
    <p:sldId id="286" r:id="rId26"/>
    <p:sldId id="275" r:id="rId27"/>
    <p:sldId id="287" r:id="rId28"/>
    <p:sldId id="288" r:id="rId29"/>
    <p:sldId id="289" r:id="rId30"/>
    <p:sldId id="270" r:id="rId31"/>
    <p:sldId id="290" r:id="rId32"/>
    <p:sldId id="276" r:id="rId33"/>
    <p:sldId id="272" r:id="rId34"/>
    <p:sldId id="273" r:id="rId35"/>
    <p:sldId id="291" r:id="rId36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j2AY3DNheaNSztFqwRHhpggp8V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6078F072-AFF0-F764-0193-E22A62566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>
            <a:extLst>
              <a:ext uri="{FF2B5EF4-FFF2-40B4-BE49-F238E27FC236}">
                <a16:creationId xmlns:a16="http://schemas.microsoft.com/office/drawing/2014/main" id="{1B0C934C-7E41-AF83-EE26-30CD07C68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>
            <a:extLst>
              <a:ext uri="{FF2B5EF4-FFF2-40B4-BE49-F238E27FC236}">
                <a16:creationId xmlns:a16="http://schemas.microsoft.com/office/drawing/2014/main" id="{542DB531-4183-705B-AC27-559F21ABB2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22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70C33DB2-0ABA-6C00-B451-A5EE9E5EC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>
            <a:extLst>
              <a:ext uri="{FF2B5EF4-FFF2-40B4-BE49-F238E27FC236}">
                <a16:creationId xmlns:a16="http://schemas.microsoft.com/office/drawing/2014/main" id="{8FB73C40-C28B-C94F-EB09-75DB092741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>
            <a:extLst>
              <a:ext uri="{FF2B5EF4-FFF2-40B4-BE49-F238E27FC236}">
                <a16:creationId xmlns:a16="http://schemas.microsoft.com/office/drawing/2014/main" id="{52B292D6-6F12-9CAF-20ED-76FD2B1CB8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85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37135D6-9775-9527-AF5A-90159D45D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>
            <a:extLst>
              <a:ext uri="{FF2B5EF4-FFF2-40B4-BE49-F238E27FC236}">
                <a16:creationId xmlns:a16="http://schemas.microsoft.com/office/drawing/2014/main" id="{039E701A-1627-342F-3474-F9C964ED86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:notes">
            <a:extLst>
              <a:ext uri="{FF2B5EF4-FFF2-40B4-BE49-F238E27FC236}">
                <a16:creationId xmlns:a16="http://schemas.microsoft.com/office/drawing/2014/main" id="{DDF3FACB-861C-F7FE-A91E-A4B594EEAB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11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>
          <a:extLst>
            <a:ext uri="{FF2B5EF4-FFF2-40B4-BE49-F238E27FC236}">
              <a16:creationId xmlns:a16="http://schemas.microsoft.com/office/drawing/2014/main" id="{8B1420E3-E2BA-64F1-525D-7AF2F24F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>
            <a:extLst>
              <a:ext uri="{FF2B5EF4-FFF2-40B4-BE49-F238E27FC236}">
                <a16:creationId xmlns:a16="http://schemas.microsoft.com/office/drawing/2014/main" id="{1DAFDF28-81FD-2EE3-AFDC-626DCA146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9:notes">
            <a:extLst>
              <a:ext uri="{FF2B5EF4-FFF2-40B4-BE49-F238E27FC236}">
                <a16:creationId xmlns:a16="http://schemas.microsoft.com/office/drawing/2014/main" id="{1DCF468F-970E-0669-953C-B8D5D8D5AD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52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3E6A33CA-69FE-E6DD-7E9E-877F10DF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>
            <a:extLst>
              <a:ext uri="{FF2B5EF4-FFF2-40B4-BE49-F238E27FC236}">
                <a16:creationId xmlns:a16="http://schemas.microsoft.com/office/drawing/2014/main" id="{B30988D9-0CFA-CF91-4860-F251F15C2F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>
            <a:extLst>
              <a:ext uri="{FF2B5EF4-FFF2-40B4-BE49-F238E27FC236}">
                <a16:creationId xmlns:a16="http://schemas.microsoft.com/office/drawing/2014/main" id="{7EECC047-5C4C-D459-06CB-16B171B106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36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D4344D5E-A1FB-C8B7-4F36-6429F67C2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>
            <a:extLst>
              <a:ext uri="{FF2B5EF4-FFF2-40B4-BE49-F238E27FC236}">
                <a16:creationId xmlns:a16="http://schemas.microsoft.com/office/drawing/2014/main" id="{B66F6A94-5839-2967-7966-BEDD0E72B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>
            <a:extLst>
              <a:ext uri="{FF2B5EF4-FFF2-40B4-BE49-F238E27FC236}">
                <a16:creationId xmlns:a16="http://schemas.microsoft.com/office/drawing/2014/main" id="{AFAC031F-659B-A7A2-8A00-22C687FE0F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300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E5419F53-BDDD-749D-495F-15A619EA5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>
            <a:extLst>
              <a:ext uri="{FF2B5EF4-FFF2-40B4-BE49-F238E27FC236}">
                <a16:creationId xmlns:a16="http://schemas.microsoft.com/office/drawing/2014/main" id="{2A630ED6-1184-BDE6-92C5-3B8317B7F2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>
            <a:extLst>
              <a:ext uri="{FF2B5EF4-FFF2-40B4-BE49-F238E27FC236}">
                <a16:creationId xmlns:a16="http://schemas.microsoft.com/office/drawing/2014/main" id="{91342308-35FD-44E2-8621-F2B2432885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36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065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106206A5-AEFF-EA9D-1FEC-0F8C78CC2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>
            <a:extLst>
              <a:ext uri="{FF2B5EF4-FFF2-40B4-BE49-F238E27FC236}">
                <a16:creationId xmlns:a16="http://schemas.microsoft.com/office/drawing/2014/main" id="{3A635BC2-263B-4D01-AA40-FF8AC53B48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>
            <a:extLst>
              <a:ext uri="{FF2B5EF4-FFF2-40B4-BE49-F238E27FC236}">
                <a16:creationId xmlns:a16="http://schemas.microsoft.com/office/drawing/2014/main" id="{32584AF5-1EE8-E1A3-E0BD-30D7B183A6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577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785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AF2E720B-C575-8B1D-C47D-E42150A98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>
            <a:extLst>
              <a:ext uri="{FF2B5EF4-FFF2-40B4-BE49-F238E27FC236}">
                <a16:creationId xmlns:a16="http://schemas.microsoft.com/office/drawing/2014/main" id="{446C48A6-E6C6-3015-8556-18BA84539E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>
            <a:extLst>
              <a:ext uri="{FF2B5EF4-FFF2-40B4-BE49-F238E27FC236}">
                <a16:creationId xmlns:a16="http://schemas.microsoft.com/office/drawing/2014/main" id="{28795694-3CD1-CBC4-13EF-549B42241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8189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9AB6F166-13A3-140D-4A23-71EF87D61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>
            <a:extLst>
              <a:ext uri="{FF2B5EF4-FFF2-40B4-BE49-F238E27FC236}">
                <a16:creationId xmlns:a16="http://schemas.microsoft.com/office/drawing/2014/main" id="{71C98500-044F-00F3-B674-1E0A7ADFA6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>
            <a:extLst>
              <a:ext uri="{FF2B5EF4-FFF2-40B4-BE49-F238E27FC236}">
                <a16:creationId xmlns:a16="http://schemas.microsoft.com/office/drawing/2014/main" id="{E0A6F386-2122-74FB-A5DD-1C70586C8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519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>
          <a:extLst>
            <a:ext uri="{FF2B5EF4-FFF2-40B4-BE49-F238E27FC236}">
              <a16:creationId xmlns:a16="http://schemas.microsoft.com/office/drawing/2014/main" id="{9601962B-9CB1-0381-11F5-4C8958094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>
            <a:extLst>
              <a:ext uri="{FF2B5EF4-FFF2-40B4-BE49-F238E27FC236}">
                <a16:creationId xmlns:a16="http://schemas.microsoft.com/office/drawing/2014/main" id="{1D6DB039-C5E7-CE9F-2C60-6C2EDDCAD4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4:notes">
            <a:extLst>
              <a:ext uri="{FF2B5EF4-FFF2-40B4-BE49-F238E27FC236}">
                <a16:creationId xmlns:a16="http://schemas.microsoft.com/office/drawing/2014/main" id="{14387F4A-CD7B-6F54-FF57-E7721E2725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062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67FFD11E-DBA0-E26F-3F2A-81DEAD10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>
            <a:extLst>
              <a:ext uri="{FF2B5EF4-FFF2-40B4-BE49-F238E27FC236}">
                <a16:creationId xmlns:a16="http://schemas.microsoft.com/office/drawing/2014/main" id="{8E9018B9-3119-0562-A59B-36561288CC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:notes">
            <a:extLst>
              <a:ext uri="{FF2B5EF4-FFF2-40B4-BE49-F238E27FC236}">
                <a16:creationId xmlns:a16="http://schemas.microsoft.com/office/drawing/2014/main" id="{72518EB9-55B4-3E08-CA04-332B3D5A8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037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36AB7272-D122-B8A3-0499-1A9E75CA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>
            <a:extLst>
              <a:ext uri="{FF2B5EF4-FFF2-40B4-BE49-F238E27FC236}">
                <a16:creationId xmlns:a16="http://schemas.microsoft.com/office/drawing/2014/main" id="{3E18A07A-C904-84C8-0433-31463CDD81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:notes">
            <a:extLst>
              <a:ext uri="{FF2B5EF4-FFF2-40B4-BE49-F238E27FC236}">
                <a16:creationId xmlns:a16="http://schemas.microsoft.com/office/drawing/2014/main" id="{285ECA0C-5007-1F52-1E92-26BD1FEF55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57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Final Year Project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US" dirty="0"/>
              <a:t>Alzheimer’s Disease Detection</a:t>
            </a:r>
            <a:endParaRPr dirty="0"/>
          </a:p>
          <a:p>
            <a:pPr marL="63500" lvl="0" indent="0" algn="ctr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 sz="1400" dirty="0"/>
              <a:t>Supervised By: Mr. Mubariz Rehman (Lecturer)</a:t>
            </a:r>
            <a:endParaRPr dirty="0"/>
          </a:p>
        </p:txBody>
      </p:sp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Team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Durab Haider (46614)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M. Umar (46952)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16601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Background and Introduction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Literature Review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Problem Statement</a:t>
            </a:r>
            <a:endParaRPr lang="en-US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Project Scope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Proposed Solution</a:t>
            </a:r>
            <a:endParaRPr dirty="0"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Requirements Summary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Design Summary</a:t>
            </a:r>
            <a:endParaRPr dirty="0"/>
          </a:p>
          <a:p>
            <a:pPr marL="742950" lvl="1" indent="-285750">
              <a:spcBef>
                <a:spcPts val="400"/>
              </a:spcBef>
              <a:buSzPts val="2000"/>
            </a:pPr>
            <a:r>
              <a:rPr lang="en-US" sz="2000" dirty="0"/>
              <a:t>Methodology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Implementation Summary</a:t>
            </a:r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/>
              <a:t>Experiments and Results Summary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Conclusion and Outlook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 AND INTRODUCTION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Background and Introduction [1/3]</a:t>
            </a:r>
            <a:endParaRPr dirty="0"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457200" y="145389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/>
              <a:t>Global Health Challenge</a:t>
            </a:r>
          </a:p>
          <a:p>
            <a:pPr marL="546100">
              <a:spcBef>
                <a:spcPts val="0"/>
              </a:spcBef>
              <a:buSzPts val="3200"/>
            </a:pPr>
            <a:r>
              <a:rPr lang="en-US" sz="2400" dirty="0"/>
              <a:t>Alzheimer’s is a progressive neurodegenerative disorder characterized by cognitive decline, memory loss, and loss of functional independence.</a:t>
            </a:r>
          </a:p>
          <a:p>
            <a:pPr marL="546100">
              <a:spcBef>
                <a:spcPts val="0"/>
              </a:spcBef>
              <a:buSzPts val="3200"/>
            </a:pPr>
            <a:r>
              <a:rPr lang="en-US" sz="2400" dirty="0"/>
              <a:t>Currently 55 million people are affected with Alzheimer’s and it is to reach about 139 million by 2050 (livhospital.com)</a:t>
            </a:r>
          </a:p>
          <a:p>
            <a:pPr marL="546100">
              <a:spcBef>
                <a:spcPts val="0"/>
              </a:spcBef>
              <a:buSzPts val="3200"/>
            </a:pPr>
            <a:r>
              <a:rPr lang="en-US" sz="2400" dirty="0"/>
              <a:t>Current diagnostic standard relies on clinical cognitive assessments and neuroimaging, which is time taking and often leads patients to an irreversible stage.</a:t>
            </a:r>
          </a:p>
          <a:p>
            <a:pPr marL="546100">
              <a:spcBef>
                <a:spcPts val="0"/>
              </a:spcBef>
              <a:buSzPts val="3200"/>
            </a:pPr>
            <a:r>
              <a:rPr lang="en-US" sz="2400" dirty="0"/>
              <a:t>Our goal is to create a system that helps doctors in early-diagnosis and detect quickly rather than the long and tiring standard ways.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23FB-85CF-A8A8-7FEF-347B13D8D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Introduction [2/3]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EE87A7-B4DD-CDB8-ABB5-BE41A7643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400" b="1" dirty="0"/>
              <a:t>Using AI to detect Alzheimer’s Early</a:t>
            </a:r>
          </a:p>
          <a:p>
            <a:r>
              <a:rPr lang="en-US" sz="2400" dirty="0"/>
              <a:t>What is the project: An AI based system that helps doctors in identifying Alzheimer’s disease by looking at brain scans and test results.</a:t>
            </a:r>
          </a:p>
          <a:p>
            <a:r>
              <a:rPr lang="en-US" sz="2400" dirty="0"/>
              <a:t>Our system uses MRI of brain to see if it is shrinking and simple cognitive tests to show how a patient’s mind is working.</a:t>
            </a:r>
          </a:p>
          <a:p>
            <a:r>
              <a:rPr lang="en-US" sz="2400" dirty="0"/>
              <a:t>Why it matters: As people get older, more people are getting this disease. We need faster and better ways to catch it early.</a:t>
            </a:r>
          </a:p>
        </p:txBody>
      </p:sp>
    </p:spTree>
    <p:extLst>
      <p:ext uri="{BB962C8B-B14F-4D97-AF65-F5344CB8AC3E}">
        <p14:creationId xmlns:p14="http://schemas.microsoft.com/office/powerpoint/2010/main" val="4172008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52647-6687-6842-5D14-8EB0004D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Introduction [3/3]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E02CF-5FEE-C994-1597-9171EC0D3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400" b="1" dirty="0"/>
              <a:t>Why do we need this system</a:t>
            </a:r>
          </a:p>
          <a:p>
            <a:r>
              <a:rPr lang="en-US" sz="2400" dirty="0"/>
              <a:t>Looking at thousands of brain images is tiring for doctors, and they might miss tiny changes.</a:t>
            </a:r>
          </a:p>
          <a:p>
            <a:r>
              <a:rPr lang="en-US" sz="2400" dirty="0"/>
              <a:t>Early Alzheimer’s changes are so small that the human eye often cannot see them on screen.</a:t>
            </a:r>
          </a:p>
          <a:p>
            <a:r>
              <a:rPr lang="en-US" sz="2400" dirty="0"/>
              <a:t>We use a Deep Learning model that can see patterns in MRI that human eye might miss.</a:t>
            </a:r>
          </a:p>
          <a:p>
            <a:r>
              <a:rPr lang="en-US" sz="2400" dirty="0"/>
              <a:t>Our system combines MRI with cognitive test scores to give one final result.</a:t>
            </a:r>
          </a:p>
        </p:txBody>
      </p:sp>
    </p:spTree>
    <p:extLst>
      <p:ext uri="{BB962C8B-B14F-4D97-AF65-F5344CB8AC3E}">
        <p14:creationId xmlns:p14="http://schemas.microsoft.com/office/powerpoint/2010/main" val="2233189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1463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 [1/4]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F43610-4E5A-9377-89E2-5DE090814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993664"/>
              </p:ext>
            </p:extLst>
          </p:nvPr>
        </p:nvGraphicFramePr>
        <p:xfrm>
          <a:off x="829056" y="1399540"/>
          <a:ext cx="7485888" cy="405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696">
                  <a:extLst>
                    <a:ext uri="{9D8B030D-6E8A-4147-A177-3AD203B41FA5}">
                      <a16:colId xmlns:a16="http://schemas.microsoft.com/office/drawing/2014/main" val="2357813766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860135005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602418758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3671226204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val="3243027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49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Mohammed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MRI (ADNI, OASIS, Kaggle)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 of fully convolutional CNNs to classify four stages of dementia. Highlights lateral ventricle enlargement and hippocampal atrophy as primary diagnostic features.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13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Sorour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MRI (6000 + images)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Comparative study identifying DenseNet-121 as the superior architecture for multiclass stage classification over ResNet and Vanilla CNN.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516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Raj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Hybrid Inception v3 / ResNet-50 model utilizing Adaptive Rider Optimization (ARO) for superior hyperparameter tuning and local minima avoidance.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8234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22BD3DF6-9B4F-8AAF-DDAB-0A41BD6D0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>
            <a:extLst>
              <a:ext uri="{FF2B5EF4-FFF2-40B4-BE49-F238E27FC236}">
                <a16:creationId xmlns:a16="http://schemas.microsoft.com/office/drawing/2014/main" id="{A7824586-17E5-52B6-D8C3-2DA34E1497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463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 [2/4]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AF0540-C601-3CE2-B055-476EFDBFD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045032"/>
              </p:ext>
            </p:extLst>
          </p:nvPr>
        </p:nvGraphicFramePr>
        <p:xfrm>
          <a:off x="829056" y="1399540"/>
          <a:ext cx="7485888" cy="427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696">
                  <a:extLst>
                    <a:ext uri="{9D8B030D-6E8A-4147-A177-3AD203B41FA5}">
                      <a16:colId xmlns:a16="http://schemas.microsoft.com/office/drawing/2014/main" val="2357813766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860135005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602418758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3671226204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val="3243027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49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Golovanevsky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MRI + Clinical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 of CAAT-EHR, a cross-attentional transformer for task-agnostic, longitudinal patient embeddings to capture complex interrelationships.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13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Wang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MRI + Cognitive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Prediction of cognitive decline (CDR-SB changes) for clinical trial enrichment, using deep neural networks to isolate subregions like the anterior temporal lobe.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516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Gupta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2025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MRI + PET + Cognitive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Hybrid CNN-SVM framework using </a:t>
                      </a:r>
                      <a:r>
                        <a:rPr lang="en-US" dirty="0" err="1"/>
                        <a:t>Xception</a:t>
                      </a:r>
                      <a:r>
                        <a:rPr lang="en-US" dirty="0"/>
                        <a:t> for feature extraction to reduce computational cost while maintaining high diagnostic boundaries.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823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02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655C4FA-CC8C-32D7-F95E-A73CA2A0C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>
            <a:extLst>
              <a:ext uri="{FF2B5EF4-FFF2-40B4-BE49-F238E27FC236}">
                <a16:creationId xmlns:a16="http://schemas.microsoft.com/office/drawing/2014/main" id="{EEBE59C5-22BB-7675-4D9A-34122B985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463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 [3/4]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B38CCD-BD61-813F-B674-ABB1032B4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1621024"/>
              </p:ext>
            </p:extLst>
          </p:nvPr>
        </p:nvGraphicFramePr>
        <p:xfrm>
          <a:off x="829056" y="1399540"/>
          <a:ext cx="7485888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696">
                  <a:extLst>
                    <a:ext uri="{9D8B030D-6E8A-4147-A177-3AD203B41FA5}">
                      <a16:colId xmlns:a16="http://schemas.microsoft.com/office/drawing/2014/main" val="2357813766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860135005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602418758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3671226204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val="3243027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49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Castellano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MRI + Demographics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95.3%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Design of </a:t>
                      </a:r>
                      <a:r>
                        <a:rPr lang="en-US" dirty="0" err="1"/>
                        <a:t>EffSwin-XNet</a:t>
                      </a:r>
                      <a:r>
                        <a:rPr lang="en-US" dirty="0"/>
                        <a:t>, merging EfficientNetB0 and Swin Transformer with Grad-CAM for enhanced spatial focus and model interpretability.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357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Raza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Multimodal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92.14%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Evaluation of novel entropy-based measures (</a:t>
                      </a:r>
                      <a:r>
                        <a:rPr lang="en-US" dirty="0" err="1"/>
                        <a:t>ExSEnt</a:t>
                      </a:r>
                      <a:r>
                        <a:rPr lang="en-US" dirty="0"/>
                        <a:t>) to detect reduced signal irregularity and "slowing" of rhythms as biomarkers for 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13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Song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MRI + PET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Implementation of a U-shaped multi-scale architecture (</a:t>
                      </a:r>
                      <a:r>
                        <a:rPr lang="en-US" dirty="0" err="1"/>
                        <a:t>ResGLPyramid</a:t>
                      </a:r>
                      <a:r>
                        <a:rPr lang="en-US" dirty="0"/>
                        <a:t>) to extract inter-slice and intra-slice metabolic features of hypometabolism.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516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413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91F1025-F277-8CFD-C818-D8E4B3328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>
            <a:extLst>
              <a:ext uri="{FF2B5EF4-FFF2-40B4-BE49-F238E27FC236}">
                <a16:creationId xmlns:a16="http://schemas.microsoft.com/office/drawing/2014/main" id="{A6A7AD51-D66C-E439-1ADE-A677CF3249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463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 [4/4]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0189BD-2C6F-B312-92BB-DC602732A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517395"/>
              </p:ext>
            </p:extLst>
          </p:nvPr>
        </p:nvGraphicFramePr>
        <p:xfrm>
          <a:off x="829056" y="1399540"/>
          <a:ext cx="7485888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7696">
                  <a:extLst>
                    <a:ext uri="{9D8B030D-6E8A-4147-A177-3AD203B41FA5}">
                      <a16:colId xmlns:a16="http://schemas.microsoft.com/office/drawing/2014/main" val="2357813766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860135005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602418758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3671226204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val="3243027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49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Mohsen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MRI(Deep Features) + MRI Handcrafted (Texture, shape and intensity)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Development of a hybrid classical-quantum model using parameterized quantum circuits to achieve high accuracy with low computational resources.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130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Nagarajan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Comprehensive review of early detection pipelines, focusing on pre-processing, autoencoders, and comparative performance analysis across modalities.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516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029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 [1/2]</a:t>
            </a:r>
            <a:endParaRPr dirty="0"/>
          </a:p>
        </p:txBody>
      </p:sp>
      <p:sp>
        <p:nvSpPr>
          <p:cNvPr id="134" name="Google Shape;134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Alzheimer’s disease is difficult to track because it hits the brain in multiple ways: through physical shrinkage, functional loss, and mental decline.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Structural MRI is our best tool for seeing brain changes, but in early stages, these changes are often too subtle to catch.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Cognitive tests give us a look at how the patient is functioning, but test results can be skewed by patient’s education level or judge bias.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Relying on single data source makes early-stage diagnosis very unreliable.</a:t>
            </a:r>
            <a:endParaRPr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>
          <a:extLst>
            <a:ext uri="{FF2B5EF4-FFF2-40B4-BE49-F238E27FC236}">
              <a16:creationId xmlns:a16="http://schemas.microsoft.com/office/drawing/2014/main" id="{F758AD76-BE21-8E78-F1AF-E7E7B8E26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>
            <a:extLst>
              <a:ext uri="{FF2B5EF4-FFF2-40B4-BE49-F238E27FC236}">
                <a16:creationId xmlns:a16="http://schemas.microsoft.com/office/drawing/2014/main" id="{99857233-B9CE-605A-849E-6795C81E21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 [2/2]</a:t>
            </a:r>
            <a:endParaRPr dirty="0"/>
          </a:p>
        </p:txBody>
      </p:sp>
      <p:sp>
        <p:nvSpPr>
          <p:cNvPr id="134" name="Google Shape;134;p9">
            <a:extLst>
              <a:ext uri="{FF2B5EF4-FFF2-40B4-BE49-F238E27FC236}">
                <a16:creationId xmlns:a16="http://schemas.microsoft.com/office/drawing/2014/main" id="{50A0A0E7-E9E0-F3DE-5D15-73FD330A6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While AI models like CNNs are great at identifying Alzheimer’s from MRI, they struggle with fine-grained tasks such as telling between EMCI and LMCI.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In these early stages, brain almost looks identical. This is where unimodal system fails.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The most promising solution is Multimodal Fusion.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The combine approach significantly improves diagnostic sensitivity.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Our research develops a framework that handles this complex data and improve model accuracy.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862220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ENDEAVOUR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Endeavour [1/3]</a:t>
            </a:r>
            <a:endParaRPr dirty="0"/>
          </a:p>
        </p:txBody>
      </p:sp>
      <p:sp>
        <p:nvSpPr>
          <p:cNvPr id="146" name="Google Shape;146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11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b="1" dirty="0"/>
              <a:t>Durab Haider</a:t>
            </a:r>
            <a:endParaRPr lang="en-US" sz="2800" dirty="0"/>
          </a:p>
          <a:p>
            <a:pPr marL="0" indent="0">
              <a:spcBef>
                <a:spcPts val="640"/>
              </a:spcBef>
              <a:buSzPts val="3200"/>
              <a:buNone/>
            </a:pPr>
            <a:r>
              <a:rPr lang="en-US" sz="2800" dirty="0"/>
              <a:t>Preprocessing of Dataset</a:t>
            </a:r>
          </a:p>
          <a:p>
            <a:pPr marL="0" lvl="0" indent="0">
              <a:spcBef>
                <a:spcPts val="640"/>
              </a:spcBef>
              <a:buSzPts val="3200"/>
              <a:buNone/>
            </a:pPr>
            <a:r>
              <a:rPr lang="en-US" sz="2800" dirty="0"/>
              <a:t>Model Training</a:t>
            </a:r>
          </a:p>
          <a:p>
            <a:pPr marL="0" lvl="0" indent="0">
              <a:spcBef>
                <a:spcPts val="640"/>
              </a:spcBef>
              <a:buSzPts val="3200"/>
              <a:buNone/>
            </a:pPr>
            <a:r>
              <a:rPr lang="en-US" sz="2800" dirty="0"/>
              <a:t>Documentation</a:t>
            </a: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dirty="0"/>
              <a:t>Model Implementation and Testing</a:t>
            </a:r>
          </a:p>
        </p:txBody>
      </p:sp>
      <p:sp>
        <p:nvSpPr>
          <p:cNvPr id="2" name="Google Shape;146;p11">
            <a:extLst>
              <a:ext uri="{FF2B5EF4-FFF2-40B4-BE49-F238E27FC236}">
                <a16:creationId xmlns:a16="http://schemas.microsoft.com/office/drawing/2014/main" id="{258BE815-7CBD-81E5-953B-994E5BFEF244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411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640"/>
              </a:spcBef>
              <a:buSzPts val="3200"/>
              <a:buFont typeface="Arial"/>
              <a:buNone/>
            </a:pPr>
            <a:r>
              <a:rPr lang="en-US" sz="2800" b="1" dirty="0"/>
              <a:t>M. Umar</a:t>
            </a:r>
          </a:p>
          <a:p>
            <a:pPr marL="0" indent="0">
              <a:spcBef>
                <a:spcPts val="640"/>
              </a:spcBef>
              <a:buSzPts val="3200"/>
              <a:buNone/>
            </a:pPr>
            <a:r>
              <a:rPr lang="en-US" sz="2800" dirty="0"/>
              <a:t>UI/UX Design</a:t>
            </a:r>
          </a:p>
          <a:p>
            <a:pPr marL="0" indent="0">
              <a:spcBef>
                <a:spcPts val="640"/>
              </a:spcBef>
              <a:buSzPts val="3200"/>
              <a:buNone/>
            </a:pPr>
            <a:r>
              <a:rPr lang="en-US" sz="2800" dirty="0"/>
              <a:t>Dataset Collection</a:t>
            </a:r>
          </a:p>
          <a:p>
            <a:pPr marL="0" indent="0">
              <a:spcBef>
                <a:spcPts val="640"/>
              </a:spcBef>
              <a:buSzPts val="3200"/>
              <a:buNone/>
            </a:pPr>
            <a:r>
              <a:rPr lang="en-US" sz="2800" dirty="0"/>
              <a:t>Web App Development</a:t>
            </a:r>
          </a:p>
          <a:p>
            <a:pPr marL="0" indent="0">
              <a:spcBef>
                <a:spcPts val="640"/>
              </a:spcBef>
              <a:buSzPts val="3200"/>
              <a:buFont typeface="Arial"/>
              <a:buNone/>
            </a:pPr>
            <a:r>
              <a:rPr lang="en-US" sz="2800" dirty="0"/>
              <a:t>Model Implementation and Testing.</a:t>
            </a:r>
          </a:p>
          <a:p>
            <a:pPr marL="0" indent="0">
              <a:spcBef>
                <a:spcPts val="640"/>
              </a:spcBef>
              <a:buSzPts val="3200"/>
              <a:buFont typeface="Arial"/>
              <a:buNone/>
            </a:pPr>
            <a:r>
              <a:rPr lang="en-US" sz="2800" dirty="0"/>
              <a:t>Documentation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ACC05347-958A-8166-6034-4DE1A28F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>
            <a:extLst>
              <a:ext uri="{FF2B5EF4-FFF2-40B4-BE49-F238E27FC236}">
                <a16:creationId xmlns:a16="http://schemas.microsoft.com/office/drawing/2014/main" id="{3EE97CCB-6374-9C68-B80D-D0C282B53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Endeavour [2/3]</a:t>
            </a:r>
            <a:endParaRPr dirty="0"/>
          </a:p>
        </p:txBody>
      </p:sp>
      <p:sp>
        <p:nvSpPr>
          <p:cNvPr id="146" name="Google Shape;146;p11">
            <a:extLst>
              <a:ext uri="{FF2B5EF4-FFF2-40B4-BE49-F238E27FC236}">
                <a16:creationId xmlns:a16="http://schemas.microsoft.com/office/drawing/2014/main" id="{FB35E2E1-0A05-A05B-3B1D-6164C66AE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b="1" dirty="0"/>
              <a:t>Software Development Process</a:t>
            </a:r>
          </a:p>
          <a:p>
            <a:pPr indent="-457200">
              <a:spcBef>
                <a:spcPts val="640"/>
              </a:spcBef>
              <a:buSzPts val="3200"/>
            </a:pPr>
            <a:r>
              <a:rPr lang="en-US" sz="2800" dirty="0"/>
              <a:t>Research and Requirement Analysis</a:t>
            </a:r>
          </a:p>
          <a:p>
            <a:pPr indent="-457200">
              <a:spcBef>
                <a:spcPts val="640"/>
              </a:spcBef>
              <a:buSzPts val="3200"/>
            </a:pPr>
            <a:r>
              <a:rPr lang="en-US" sz="2800" dirty="0"/>
              <a:t>Data Acquisition and Preprocessing</a:t>
            </a:r>
          </a:p>
          <a:p>
            <a:pPr indent="-457200">
              <a:spcBef>
                <a:spcPts val="640"/>
              </a:spcBef>
              <a:buSzPts val="3200"/>
            </a:pPr>
            <a:r>
              <a:rPr lang="en-US" sz="2800" dirty="0"/>
              <a:t>Model Design and Fusion Development</a:t>
            </a:r>
          </a:p>
          <a:p>
            <a:pPr indent="-457200">
              <a:spcBef>
                <a:spcPts val="640"/>
              </a:spcBef>
              <a:buSzPts val="3200"/>
            </a:pPr>
            <a:r>
              <a:rPr lang="en-US" sz="2800" dirty="0"/>
              <a:t>Iterative Training and Optimization</a:t>
            </a:r>
          </a:p>
          <a:p>
            <a:pPr indent="-457200">
              <a:spcBef>
                <a:spcPts val="640"/>
              </a:spcBef>
              <a:buSzPts val="3200"/>
            </a:pPr>
            <a:r>
              <a:rPr lang="en-US" sz="2800" dirty="0"/>
              <a:t>Website Development and Model Integration</a:t>
            </a:r>
          </a:p>
          <a:p>
            <a:pPr indent="-457200">
              <a:spcBef>
                <a:spcPts val="640"/>
              </a:spcBef>
              <a:buSzPts val="3200"/>
            </a:pPr>
            <a:r>
              <a:rPr lang="en-US" sz="2800" dirty="0"/>
              <a:t>Testing and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212780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9232A283-5089-8165-EF96-4DF6E76FB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>
            <a:extLst>
              <a:ext uri="{FF2B5EF4-FFF2-40B4-BE49-F238E27FC236}">
                <a16:creationId xmlns:a16="http://schemas.microsoft.com/office/drawing/2014/main" id="{D677C5B2-1C12-7BD0-7439-388453DD8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Endeavour [3/3]</a:t>
            </a:r>
            <a:endParaRPr dirty="0"/>
          </a:p>
        </p:txBody>
      </p:sp>
      <p:sp>
        <p:nvSpPr>
          <p:cNvPr id="146" name="Google Shape;146;p11">
            <a:extLst>
              <a:ext uri="{FF2B5EF4-FFF2-40B4-BE49-F238E27FC236}">
                <a16:creationId xmlns:a16="http://schemas.microsoft.com/office/drawing/2014/main" id="{C41F9A8C-3673-CB70-F0E1-87FDF03D6C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800" b="1" dirty="0"/>
              <a:t>Way of Working as a Team</a:t>
            </a:r>
          </a:p>
          <a:p>
            <a:pPr indent="-457200">
              <a:spcBef>
                <a:spcPts val="640"/>
              </a:spcBef>
              <a:buSzPts val="3200"/>
            </a:pPr>
            <a:r>
              <a:rPr lang="en-US" sz="2800" dirty="0"/>
              <a:t>Regular meetings to discuss progress, challenges, and next steps.</a:t>
            </a:r>
          </a:p>
          <a:p>
            <a:pPr indent="-457200">
              <a:spcBef>
                <a:spcPts val="640"/>
              </a:spcBef>
              <a:buSzPts val="3200"/>
            </a:pPr>
            <a:r>
              <a:rPr lang="en-US" sz="2800" dirty="0"/>
              <a:t>Used tools like GitHub for collaboration.</a:t>
            </a:r>
          </a:p>
          <a:p>
            <a:pPr indent="-457200">
              <a:spcBef>
                <a:spcPts val="640"/>
              </a:spcBef>
              <a:buSzPts val="3200"/>
            </a:pPr>
            <a:r>
              <a:rPr lang="en-US" sz="2800" dirty="0"/>
              <a:t>Brainstorming for solutions of challenges being faced such as dataset limitation.</a:t>
            </a:r>
          </a:p>
          <a:p>
            <a:pPr indent="-457200">
              <a:spcBef>
                <a:spcPts val="640"/>
              </a:spcBef>
              <a:buSzPts val="3200"/>
            </a:pPr>
            <a:r>
              <a:rPr lang="en-US" sz="2800" dirty="0"/>
              <a:t>Tasks were assigned after mutual discussion.</a:t>
            </a:r>
          </a:p>
        </p:txBody>
      </p:sp>
    </p:spTree>
    <p:extLst>
      <p:ext uri="{BB962C8B-B14F-4D97-AF65-F5344CB8AC3E}">
        <p14:creationId xmlns:p14="http://schemas.microsoft.com/office/powerpoint/2010/main" val="1758855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 [1/2]</a:t>
            </a:r>
            <a:endParaRPr dirty="0"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indent="-457200">
              <a:spcBef>
                <a:spcPts val="0"/>
              </a:spcBef>
              <a:buSzPts val="3200"/>
            </a:pPr>
            <a:r>
              <a:rPr lang="en-US" sz="2800" dirty="0"/>
              <a:t>We developed a multimodal fusion framework that process MRI brain scans and cognitive data.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800" dirty="0"/>
              <a:t>Instead of looking at images in isolation, our system performs fusion, merging brain scan with functional data like MMSE and CDR scores.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800" dirty="0"/>
              <a:t>This dual-input approach allows the model to pick on subtle relations between brain shrinkage and actual mental performance.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635EA169-A0DD-A95A-FAE8-829B5949F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>
            <a:extLst>
              <a:ext uri="{FF2B5EF4-FFF2-40B4-BE49-F238E27FC236}">
                <a16:creationId xmlns:a16="http://schemas.microsoft.com/office/drawing/2014/main" id="{20D24708-0D41-2701-F949-B2CA27559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Solution [2/2]</a:t>
            </a:r>
            <a:endParaRPr dirty="0"/>
          </a:p>
        </p:txBody>
      </p:sp>
      <p:sp>
        <p:nvSpPr>
          <p:cNvPr id="158" name="Google Shape;158;p13">
            <a:extLst>
              <a:ext uri="{FF2B5EF4-FFF2-40B4-BE49-F238E27FC236}">
                <a16:creationId xmlns:a16="http://schemas.microsoft.com/office/drawing/2014/main" id="{D95340B9-3123-75A9-34BF-8A4595C00D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Our framework utilizes a Late Fusion architecture with an integrated Attention Mechanism to weight the importance of each data stream.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The system processes brain features through an MRI Branch and a 30-question diagnostic vector through a Cognitive Branch in parallel.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A Softmax Attention Layer dynamically calculates attention weights, allowing the model to focus more on imaging or clinical data depending on the patient's specific symptoms.</a:t>
            </a:r>
          </a:p>
        </p:txBody>
      </p:sp>
    </p:spTree>
    <p:extLst>
      <p:ext uri="{BB962C8B-B14F-4D97-AF65-F5344CB8AC3E}">
        <p14:creationId xmlns:p14="http://schemas.microsoft.com/office/powerpoint/2010/main" val="891490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Summary</a:t>
            </a:r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indent="-457200">
              <a:spcBef>
                <a:spcPts val="0"/>
              </a:spcBef>
              <a:buSzPts val="3200"/>
            </a:pPr>
            <a:r>
              <a:rPr lang="en-US" sz="2200" b="1" dirty="0"/>
              <a:t>Dataset Requirements</a:t>
            </a:r>
            <a:r>
              <a:rPr lang="en-US" sz="2200" dirty="0"/>
              <a:t>: Multimodal data sourced from ADNI, containing paired MRI scans and clinical records.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200" b="1" dirty="0"/>
              <a:t>Data Preprocessing</a:t>
            </a:r>
            <a:r>
              <a:rPr lang="en-US" sz="2200" dirty="0"/>
              <a:t>: Standardized imaging pipeline for MRI slice normalization and a custom StandardScaler mapping for cognitive features.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200" b="1" dirty="0"/>
              <a:t>Clinical Data Pipeline</a:t>
            </a:r>
            <a:r>
              <a:rPr lang="en-US" sz="2200" dirty="0"/>
              <a:t>: A normalized dataset of MMSE, CDR, and ADAS13 scores transformed into a 30-question vector.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200" b="1" dirty="0"/>
              <a:t>Hardware and Compute</a:t>
            </a:r>
            <a:r>
              <a:rPr lang="en-US" sz="2200" dirty="0"/>
              <a:t>: High-performance GPU acceleration via Google Colab to handle model training.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200" b="1" dirty="0"/>
              <a:t>Evaluation Metrics</a:t>
            </a:r>
            <a:r>
              <a:rPr lang="en-US" sz="2200" dirty="0"/>
              <a:t>: Comprehensive monitoring via confusion matrices and accuracy scores to ensure model reliability.</a:t>
            </a:r>
          </a:p>
        </p:txBody>
      </p:sp>
    </p:spTree>
    <p:extLst>
      <p:ext uri="{BB962C8B-B14F-4D97-AF65-F5344CB8AC3E}">
        <p14:creationId xmlns:p14="http://schemas.microsoft.com/office/powerpoint/2010/main" val="2916629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Design Summary [1/2]</a:t>
            </a:r>
            <a:endParaRPr dirty="0"/>
          </a:p>
        </p:txBody>
      </p:sp>
      <p:sp>
        <p:nvSpPr>
          <p:cNvPr id="164" name="Google Shape;164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The system architecture utilizes a Late Fusion strategy with two parallel, independent processing branches for imaging and clinical data.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The MRI feature branch accepts pre-extracted features, while the cognitive branch processes a high-dimensional question vector derived from MMSE and CDRSB scores.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A feature alignment pipeline was designed to synchronize these disparate data types using unique patient ID (RID), ensuring temporal consistency across all dataset.</a:t>
            </a:r>
          </a:p>
          <a:p>
            <a:pPr marL="660400" indent="-457200">
              <a:spcBef>
                <a:spcPts val="0"/>
              </a:spcBef>
              <a:buSzPts val="3200"/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17629F81-0345-219F-E218-6966874F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>
            <a:extLst>
              <a:ext uri="{FF2B5EF4-FFF2-40B4-BE49-F238E27FC236}">
                <a16:creationId xmlns:a16="http://schemas.microsoft.com/office/drawing/2014/main" id="{AA4C1A57-2F80-6503-7A62-62C70E8B99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Design Summary [2/2]</a:t>
            </a:r>
            <a:endParaRPr dirty="0"/>
          </a:p>
        </p:txBody>
      </p:sp>
      <p:sp>
        <p:nvSpPr>
          <p:cNvPr id="164" name="Google Shape;164;p14">
            <a:extLst>
              <a:ext uri="{FF2B5EF4-FFF2-40B4-BE49-F238E27FC236}">
                <a16:creationId xmlns:a16="http://schemas.microsoft.com/office/drawing/2014/main" id="{43E37498-A6E0-8783-09CE-EE66A1B096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A Softmax-weighted Attention Mechanism is embedded at the fusion layer to dynamically calculate the relative diagnostic importance of each input stream.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The integration of Batch Normalization and Dropout (0.3 – 0.5) within the architecture ensures numerical stability and prevents the model from overfitting to the training sample.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The training logic is governed by Adaptive Learning Rate strategy, optimizing the loss function over 60 epochs to reach the final classification stage.</a:t>
            </a:r>
          </a:p>
          <a:p>
            <a:pPr marL="660400" indent="-457200">
              <a:spcBef>
                <a:spcPts val="0"/>
              </a:spcBef>
              <a:buSzPts val="32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8493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>
            <a:spLocks noGrp="1"/>
          </p:cNvSpPr>
          <p:nvPr>
            <p:ph type="title"/>
          </p:nvPr>
        </p:nvSpPr>
        <p:spPr>
          <a:xfrm>
            <a:off x="457200" y="17710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 [1/4]</a:t>
            </a:r>
            <a:endParaRPr dirty="0"/>
          </a:p>
        </p:txBody>
      </p:sp>
      <p:sp>
        <p:nvSpPr>
          <p:cNvPr id="164" name="Google Shape;164;p14"/>
          <p:cNvSpPr txBox="1">
            <a:spLocks noGrp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/>
              <a:t>Data Acquisition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The research utilizes data sourced from the ADNI (Alzheimer's Disease Neuroimaging Initiative) database.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We curated a dataset consisting of four primary diagnostic categories: CN, EMCI, LMCI, and AD.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The study incorporates multimodal features, specifically MRI scans and clinical scores.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Clinical markers include standardized assessments from MMSE, CDRSB, and ADAS13 tests.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177336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8C51D253-0F36-E42C-E610-11983FA06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>
            <a:extLst>
              <a:ext uri="{FF2B5EF4-FFF2-40B4-BE49-F238E27FC236}">
                <a16:creationId xmlns:a16="http://schemas.microsoft.com/office/drawing/2014/main" id="{529B27A5-E254-42C3-F894-1030847984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2833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 [2/4]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4" name="Google Shape;164;p14">
                <a:extLst>
                  <a:ext uri="{FF2B5EF4-FFF2-40B4-BE49-F238E27FC236}">
                    <a16:creationId xmlns:a16="http://schemas.microsoft.com/office/drawing/2014/main" id="{295EE5B4-E9DC-EACA-43B5-B981AF83EF0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166018"/>
                <a:ext cx="8229600" cy="4525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342900" lvl="0" indent="-1397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None/>
                </a:pPr>
                <a:r>
                  <a:rPr lang="en-US" sz="2000" b="1" dirty="0"/>
                  <a:t>Data Preprocessing</a:t>
                </a:r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000" dirty="0"/>
                  <a:t>MRI volumes underwent Z-score intensity normalization to standardize pixel values across different scanning hardware:</a:t>
                </a:r>
              </a:p>
              <a:p>
                <a:pPr marL="203200" indent="0">
                  <a:spcBef>
                    <a:spcPts val="0"/>
                  </a:spcBef>
                  <a:buSzPts val="3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000" dirty="0"/>
                  <a:t>We performed a 3D to 2D transformation by extracting axial slices to isolate high-density structural landmarks.</a:t>
                </a:r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000" dirty="0"/>
                  <a:t>Tabular clinical metrics were normalized using StandardScaler to ensure all features contribute equally to the model.</a:t>
                </a:r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000" dirty="0"/>
                  <a:t>A custom logic was developed to convert raw clinical data into a 30-dimension binary vector.</a:t>
                </a:r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000" dirty="0"/>
                  <a:t>We implemented a Relative ID (RID) synchronization algorithm to align image features with chronological clinical records.</a:t>
                </a:r>
              </a:p>
            </p:txBody>
          </p:sp>
        </mc:Choice>
        <mc:Fallback>
          <p:sp>
            <p:nvSpPr>
              <p:cNvPr id="164" name="Google Shape;164;p14">
                <a:extLst>
                  <a:ext uri="{FF2B5EF4-FFF2-40B4-BE49-F238E27FC236}">
                    <a16:creationId xmlns:a16="http://schemas.microsoft.com/office/drawing/2014/main" id="{295EE5B4-E9DC-EACA-43B5-B981AF83EF0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66018"/>
                <a:ext cx="8229600" cy="4525963"/>
              </a:xfrm>
              <a:prstGeom prst="rect">
                <a:avLst/>
              </a:prstGeom>
              <a:blipFill>
                <a:blip r:embed="rId3"/>
                <a:stretch>
                  <a:fillRect t="-673" r="-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39183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A69F49F6-F90E-D292-4215-4BA58D1C5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>
            <a:extLst>
              <a:ext uri="{FF2B5EF4-FFF2-40B4-BE49-F238E27FC236}">
                <a16:creationId xmlns:a16="http://schemas.microsoft.com/office/drawing/2014/main" id="{B6B35EB7-A581-5159-EA1D-AC3383F89F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4052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 [3/4]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Google Shape;164;p14">
                <a:extLst>
                  <a:ext uri="{FF2B5EF4-FFF2-40B4-BE49-F238E27FC236}">
                    <a16:creationId xmlns:a16="http://schemas.microsoft.com/office/drawing/2014/main" id="{D2CE0BB2-598F-6FDC-9769-15247326B23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283526"/>
                <a:ext cx="8229600" cy="4525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342900" lvl="0" indent="-1397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None/>
                </a:pPr>
                <a:r>
                  <a:rPr lang="en-US" sz="2000" b="1" dirty="0"/>
                  <a:t>Proposed Architecture</a:t>
                </a:r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000" dirty="0"/>
                  <a:t>The model is designed with a dual-branch parallel network to process images and tabular data independently.</a:t>
                </a:r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000" dirty="0"/>
                  <a:t>Every processing stage incorporates Dense-ReLU and Batch Normalization layers to maintain feature stability.</a:t>
                </a:r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000" dirty="0"/>
                  <a:t>We integrated a Softmax Attention Mechanism to calculate the diagnostic weight of each data modality:</a:t>
                </a:r>
              </a:p>
              <a:p>
                <a:pPr marL="203200" indent="0">
                  <a:spcBef>
                    <a:spcPts val="0"/>
                  </a:spcBef>
                  <a:buSzPts val="3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sz="200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𝛴</m:t>
                              </m:r>
                            </m:e>
                            <m:sub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i="0" dirty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sz="200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000" dirty="0"/>
                  <a:t>Features are combined using a Multiply-and-Flatten fusion strategy that dynamically prioritizes the most relevant signals:</a:t>
                </a:r>
              </a:p>
              <a:p>
                <a:pPr marL="203200" indent="0">
                  <a:spcBef>
                    <a:spcPts val="0"/>
                  </a:spcBef>
                  <a:buSzPts val="3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fused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∑(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Features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000" dirty="0"/>
                  <a:t>The architecture utilizes Dropout (0.3–0.5) to prevent overfitting and improve real-world generalization.</a:t>
                </a:r>
              </a:p>
            </p:txBody>
          </p:sp>
        </mc:Choice>
        <mc:Fallback xmlns="">
          <p:sp>
            <p:nvSpPr>
              <p:cNvPr id="164" name="Google Shape;164;p14">
                <a:extLst>
                  <a:ext uri="{FF2B5EF4-FFF2-40B4-BE49-F238E27FC236}">
                    <a16:creationId xmlns:a16="http://schemas.microsoft.com/office/drawing/2014/main" id="{D2CE0BB2-598F-6FDC-9769-15247326B23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83526"/>
                <a:ext cx="8229600" cy="4525963"/>
              </a:xfrm>
              <a:prstGeom prst="rect">
                <a:avLst/>
              </a:prstGeom>
              <a:blipFill>
                <a:blip r:embed="rId3"/>
                <a:stretch>
                  <a:fillRect t="-809" r="-667" b="-8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778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>
          <a:extLst>
            <a:ext uri="{FF2B5EF4-FFF2-40B4-BE49-F238E27FC236}">
              <a16:creationId xmlns:a16="http://schemas.microsoft.com/office/drawing/2014/main" id="{E47E3909-81CD-8F6C-2E2E-3DD5B2767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>
            <a:extLst>
              <a:ext uri="{FF2B5EF4-FFF2-40B4-BE49-F238E27FC236}">
                <a16:creationId xmlns:a16="http://schemas.microsoft.com/office/drawing/2014/main" id="{D0434805-A8E8-37C8-3130-70F3A8FC0D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17710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Methodology [4/4]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Google Shape;164;p14">
                <a:extLst>
                  <a:ext uri="{FF2B5EF4-FFF2-40B4-BE49-F238E27FC236}">
                    <a16:creationId xmlns:a16="http://schemas.microsoft.com/office/drawing/2014/main" id="{E13B1181-2923-C756-0EBD-73076E6D613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417638"/>
                <a:ext cx="8229600" cy="4525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342900" lvl="0" indent="-1397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None/>
                </a:pPr>
                <a:r>
                  <a:rPr lang="en-US" sz="2400" b="1" dirty="0"/>
                  <a:t>Training and Evaluation</a:t>
                </a:r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400" dirty="0"/>
                  <a:t>The framework was optimized using Sparse Categorical Cross-entropy to measure prediction accuracy:</a:t>
                </a:r>
              </a:p>
              <a:p>
                <a:pPr marL="203200" indent="0">
                  <a:spcBef>
                    <a:spcPts val="0"/>
                  </a:spcBef>
                  <a:buSzPts val="32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𝛴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400" dirty="0"/>
                  <a:t>We applied Dynamic Class Weighting to penalize errors in underrepresented diagnostic categories more heavily.</a:t>
                </a:r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400" dirty="0"/>
                  <a:t>Training was conducted using the Adam Optimizer with a learning rate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10</m:t>
                        </m:r>
                      </m:e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400" dirty="0"/>
                  <a:t>.</a:t>
                </a:r>
              </a:p>
              <a:p>
                <a:pPr marL="546100">
                  <a:spcBef>
                    <a:spcPts val="0"/>
                  </a:spcBef>
                  <a:buSzPts val="3200"/>
                </a:pPr>
                <a:r>
                  <a:rPr lang="en-US" sz="2400" dirty="0"/>
                  <a:t>A ReduceLROnPlateau scheduler was implemented to adapt the learning process as the model approached convergence.</a:t>
                </a:r>
              </a:p>
            </p:txBody>
          </p:sp>
        </mc:Choice>
        <mc:Fallback xmlns="">
          <p:sp>
            <p:nvSpPr>
              <p:cNvPr id="164" name="Google Shape;164;p14">
                <a:extLst>
                  <a:ext uri="{FF2B5EF4-FFF2-40B4-BE49-F238E27FC236}">
                    <a16:creationId xmlns:a16="http://schemas.microsoft.com/office/drawing/2014/main" id="{E13B1181-2923-C756-0EBD-73076E6D613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17638"/>
                <a:ext cx="8229600" cy="4525963"/>
              </a:xfrm>
              <a:prstGeom prst="rect">
                <a:avLst/>
              </a:prstGeom>
              <a:blipFill>
                <a:blip r:embed="rId3"/>
                <a:stretch>
                  <a:fillRect t="-1078" r="-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2201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Implementation Summary [1/2]</a:t>
            </a:r>
            <a:endParaRPr dirty="0"/>
          </a:p>
        </p:txBody>
      </p:sp>
      <p:sp>
        <p:nvSpPr>
          <p:cNvPr id="170" name="Google Shape;170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indent="-457200">
              <a:spcBef>
                <a:spcPts val="0"/>
              </a:spcBef>
              <a:buSzPts val="3200"/>
            </a:pPr>
            <a:r>
              <a:rPr lang="en-US" sz="2400" b="1" dirty="0"/>
              <a:t>Integrated Tech Stack</a:t>
            </a:r>
          </a:p>
          <a:p>
            <a:pPr marL="1117600" lvl="1" indent="-457200"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400" dirty="0"/>
              <a:t>Development of the architecture utilizing a React frontend and a Python Node.js backend.</a:t>
            </a:r>
          </a:p>
          <a:p>
            <a:pPr marL="1117600" lvl="1" indent="-457200"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400" dirty="0"/>
              <a:t>Implementation of TensorFlow and Keras for high-performance model execution and inference</a:t>
            </a:r>
            <a:endParaRPr lang="en-US" sz="2400" b="1" dirty="0"/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b="1" dirty="0"/>
              <a:t>Imaging and Preprocessing Pipeline</a:t>
            </a:r>
          </a:p>
          <a:p>
            <a:pPr marL="1117600" lvl="1" indent="-457200"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400" dirty="0"/>
              <a:t>Automated extraction of central axial slices from raw 3D NIfTI volumes.</a:t>
            </a:r>
          </a:p>
          <a:p>
            <a:pPr marL="1117600" lvl="1" indent="-457200"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400" dirty="0"/>
              <a:t>Application of Z-score Intensity Normalization and resizing to a uniform 128x128 pixel resolution.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CA8BE5FB-864B-4DBF-CB7A-A059B0BE3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>
            <a:extLst>
              <a:ext uri="{FF2B5EF4-FFF2-40B4-BE49-F238E27FC236}">
                <a16:creationId xmlns:a16="http://schemas.microsoft.com/office/drawing/2014/main" id="{FC9D3F10-7439-896A-885D-B49C5067B7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Implementation Summary [2/2]</a:t>
            </a:r>
            <a:endParaRPr dirty="0"/>
          </a:p>
        </p:txBody>
      </p:sp>
      <p:sp>
        <p:nvSpPr>
          <p:cNvPr id="170" name="Google Shape;170;p15">
            <a:extLst>
              <a:ext uri="{FF2B5EF4-FFF2-40B4-BE49-F238E27FC236}">
                <a16:creationId xmlns:a16="http://schemas.microsoft.com/office/drawing/2014/main" id="{1E47F5EE-113A-B55C-7824-E398835BF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indent="-457200">
              <a:spcBef>
                <a:spcPts val="0"/>
              </a:spcBef>
              <a:buSzPts val="3200"/>
            </a:pPr>
            <a:r>
              <a:rPr lang="en-US" sz="2400" b="1" dirty="0"/>
              <a:t>Feature Engineering and Fusion</a:t>
            </a:r>
          </a:p>
          <a:p>
            <a:pPr marL="1003300" lvl="1"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000" dirty="0"/>
              <a:t>Transformation of raw clinical scores into a specialized 30-bit binary functional vector.</a:t>
            </a:r>
          </a:p>
          <a:p>
            <a:pPr marL="1003300" lvl="1"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000" dirty="0"/>
              <a:t>Deployment of a Multimodal Attention Layer to dynamically prioritize imaging versus cognitive data streams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b="1" dirty="0"/>
              <a:t>Deployment &amp; Diagnostic Workflow</a:t>
            </a:r>
          </a:p>
          <a:p>
            <a:pPr marL="1117600" lvl="1" indent="-457200"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000" dirty="0"/>
              <a:t>End-to-end workflow delivering diagnostic forecasts within a 1 </a:t>
            </a:r>
            <a:r>
              <a:rPr lang="en-US" sz="2000"/>
              <a:t>to 8-second </a:t>
            </a:r>
            <a:r>
              <a:rPr lang="en-US" sz="2000" dirty="0"/>
              <a:t>window.</a:t>
            </a:r>
          </a:p>
          <a:p>
            <a:pPr marL="1117600" lvl="1" indent="-457200"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000" dirty="0"/>
              <a:t>Support for four-class classification: AD, CN, EMCI, and LMCI.</a:t>
            </a:r>
          </a:p>
          <a:p>
            <a:pPr marL="1117600" lvl="1" indent="-457200">
              <a:spcBef>
                <a:spcPts val="0"/>
              </a:spcBef>
              <a:buSzPts val="3200"/>
              <a:buFont typeface="Arial" panose="020B0604020202020204" pitchFamily="34" charset="0"/>
              <a:buChar char="•"/>
            </a:pPr>
            <a:r>
              <a:rPr lang="en-US" sz="2000" dirty="0"/>
              <a:t>Real-time result rendering through a responsive, clinician-focused dashboard.</a:t>
            </a:r>
          </a:p>
        </p:txBody>
      </p:sp>
    </p:spTree>
    <p:extLst>
      <p:ext uri="{BB962C8B-B14F-4D97-AF65-F5344CB8AC3E}">
        <p14:creationId xmlns:p14="http://schemas.microsoft.com/office/powerpoint/2010/main" val="57118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0C53-AA21-809A-BBD4-F324A6B80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758"/>
            <a:ext cx="8229600" cy="1143000"/>
          </a:xfrm>
        </p:spPr>
        <p:txBody>
          <a:bodyPr/>
          <a:lstStyle/>
          <a:p>
            <a:r>
              <a:rPr lang="en-US" dirty="0"/>
              <a:t>Experiments and Results Summary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3A843-62EA-E47E-8852-8A07452A5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37222"/>
            <a:ext cx="8229600" cy="1143000"/>
          </a:xfrm>
        </p:spPr>
        <p:txBody>
          <a:bodyPr/>
          <a:lstStyle/>
          <a:p>
            <a:pPr marL="114300" indent="0">
              <a:buNone/>
            </a:pPr>
            <a:r>
              <a:rPr lang="en-US" sz="2000" b="1" dirty="0"/>
              <a:t>Comparative Performance Overview</a:t>
            </a:r>
          </a:p>
          <a:p>
            <a:pPr marL="114300" indent="0">
              <a:buNone/>
            </a:pPr>
            <a:r>
              <a:rPr lang="en-US" sz="2000" dirty="0"/>
              <a:t>The following table summarizes the progression of various architectures tested during the research phase.</a:t>
            </a:r>
            <a:endParaRPr lang="en-PK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510A81-8F4D-9634-86FB-AF0DD0A00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759586"/>
              </p:ext>
            </p:extLst>
          </p:nvPr>
        </p:nvGraphicFramePr>
        <p:xfrm>
          <a:off x="1524000" y="2304606"/>
          <a:ext cx="6096000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4848">
                  <a:extLst>
                    <a:ext uri="{9D8B030D-6E8A-4147-A177-3AD203B41FA5}">
                      <a16:colId xmlns:a16="http://schemas.microsoft.com/office/drawing/2014/main" val="783287457"/>
                    </a:ext>
                  </a:extLst>
                </a:gridCol>
                <a:gridCol w="1089152">
                  <a:extLst>
                    <a:ext uri="{9D8B030D-6E8A-4147-A177-3AD203B41FA5}">
                      <a16:colId xmlns:a16="http://schemas.microsoft.com/office/drawing/2014/main" val="406796168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27897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80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VGG16_LeakyReLU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95.09%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843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ResNet50_LeakyReLU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90.25%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0.9023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570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Inceptionv3_MobileNet_LeakyReLU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86.19%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0.8619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5376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InceptionV3_DenseNet121_LR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68.90%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0.6702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557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ResNet50_Cog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0.9723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95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IncV3_MobNet_Attention_Pooling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93.95%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93.94%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79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dirty="0"/>
                        <a:t>Inceptionv3_MobNet_Cog_Fusion_Softmax </a:t>
                      </a:r>
                      <a:r>
                        <a:rPr lang="en-US" dirty="0"/>
                        <a:t>(Proposed Model)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0.9884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917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3398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 AND OUTLOOK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 &amp; Outlook [1/2]</a:t>
            </a:r>
            <a:endParaRPr dirty="0"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/>
              <a:t>Conclusion: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Successfully developed a multimodal AI system that classifies in AD, CN, EMCI and LMCI.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Integrated a unique 30-question cognitive vector with MRI features to outperform single-modality models.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Fulfilled all project objectives, including patient-wise data alignment and full-stack interface development.</a:t>
            </a:r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400" dirty="0"/>
              <a:t>Overcame technical hurdles in 3D NIfTI preprocessing and hybrid architecture optimization.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548DA80C-3A29-25CD-DBEF-1B583B454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>
            <a:extLst>
              <a:ext uri="{FF2B5EF4-FFF2-40B4-BE49-F238E27FC236}">
                <a16:creationId xmlns:a16="http://schemas.microsoft.com/office/drawing/2014/main" id="{6A9ED19B-3476-FEB6-DE01-C07A605F89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 &amp; Outlook [2/2]</a:t>
            </a:r>
            <a:endParaRPr dirty="0"/>
          </a:p>
        </p:txBody>
      </p:sp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0E930FF4-E79B-F3A8-0E82-E9AB5CADBA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400" b="1" dirty="0"/>
              <a:t>Future Outlook:</a:t>
            </a:r>
          </a:p>
          <a:p>
            <a:pPr marL="546100">
              <a:spcBef>
                <a:spcPts val="0"/>
              </a:spcBef>
              <a:buSzPts val="3200"/>
            </a:pPr>
            <a:r>
              <a:rPr lang="en-US" sz="2400" dirty="0"/>
              <a:t>Transition from an academic framework to real-time clinical verification within hospital settings.</a:t>
            </a:r>
          </a:p>
          <a:p>
            <a:pPr marL="546100">
              <a:spcBef>
                <a:spcPts val="0"/>
              </a:spcBef>
              <a:buSzPts val="3200"/>
            </a:pPr>
            <a:r>
              <a:rPr lang="en-US" sz="2400" dirty="0"/>
              <a:t>Expand the model to include longitudinal progression, predicting the timeline of disease transitions.</a:t>
            </a:r>
          </a:p>
          <a:p>
            <a:pPr marL="546100">
              <a:spcBef>
                <a:spcPts val="0"/>
              </a:spcBef>
              <a:buSzPts val="3200"/>
            </a:pPr>
            <a:r>
              <a:rPr lang="en-US" sz="2400" dirty="0"/>
              <a:t>Implement Explainable AI (XAI) features, such as brain atrophy heatmaps, to assist clinician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676171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2078</Words>
  <Application>Microsoft Office PowerPoint</Application>
  <PresentationFormat>On-screen Show (4:3)</PresentationFormat>
  <Paragraphs>262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 Math</vt:lpstr>
      <vt:lpstr>Office Theme</vt:lpstr>
      <vt:lpstr>Final Year Project</vt:lpstr>
      <vt:lpstr>Project Team</vt:lpstr>
      <vt:lpstr>Table of Content</vt:lpstr>
      <vt:lpstr>BACKGROUND AND INTRODUCTION</vt:lpstr>
      <vt:lpstr>Background and Introduction [1/3]</vt:lpstr>
      <vt:lpstr>Background and Introduction [2/3]</vt:lpstr>
      <vt:lpstr>Background and Introduction [3/3]</vt:lpstr>
      <vt:lpstr>Literature Review</vt:lpstr>
      <vt:lpstr>Literature Review [1/4]</vt:lpstr>
      <vt:lpstr>Literature Review [2/4]</vt:lpstr>
      <vt:lpstr>Literature Review [3/4]</vt:lpstr>
      <vt:lpstr>Literature Review [4/4]</vt:lpstr>
      <vt:lpstr>PROBLEM STATEMENT</vt:lpstr>
      <vt:lpstr>Problem Statement [1/2]</vt:lpstr>
      <vt:lpstr>Problem Statement [2/2]</vt:lpstr>
      <vt:lpstr>ENDEAVOUR</vt:lpstr>
      <vt:lpstr>Endeavour [1/3]</vt:lpstr>
      <vt:lpstr>Endeavour [2/3]</vt:lpstr>
      <vt:lpstr>Endeavour [3/3]</vt:lpstr>
      <vt:lpstr>PROPOSED SOLUTION</vt:lpstr>
      <vt:lpstr>Proposed Solution [1/2]</vt:lpstr>
      <vt:lpstr>Proposed Solution [2/2]</vt:lpstr>
      <vt:lpstr>Requirements Summary</vt:lpstr>
      <vt:lpstr>Design Summary [1/2]</vt:lpstr>
      <vt:lpstr>Design Summary [2/2]</vt:lpstr>
      <vt:lpstr>Methodology [1/4]</vt:lpstr>
      <vt:lpstr>Methodology [2/4]</vt:lpstr>
      <vt:lpstr>Methodology [3/4]</vt:lpstr>
      <vt:lpstr>Methodology [4/4]</vt:lpstr>
      <vt:lpstr>Implementation Summary [1/2]</vt:lpstr>
      <vt:lpstr>Implementation Summary [2/2]</vt:lpstr>
      <vt:lpstr>Experiments and Results Summary</vt:lpstr>
      <vt:lpstr>CONCLUSION AND OUTLOOK</vt:lpstr>
      <vt:lpstr>Conclusion &amp; Outlook [1/2]</vt:lpstr>
      <vt:lpstr>Conclusion &amp; Outlook [2/2]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</dc:title>
  <dc:creator>Khan</dc:creator>
  <cp:lastModifiedBy>Naqi Turab</cp:lastModifiedBy>
  <cp:revision>27</cp:revision>
  <dcterms:created xsi:type="dcterms:W3CDTF">2013-01-22T07:04:44Z</dcterms:created>
  <dcterms:modified xsi:type="dcterms:W3CDTF">2026-04-27T13:37:15Z</dcterms:modified>
</cp:coreProperties>
</file>